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ad552d80944c32" /><Relationship Type="http://schemas.openxmlformats.org/officeDocument/2006/relationships/extended-properties" Target="/docProps/app.xml" Id="Rfcb8eb966926429a" /><Relationship Type="http://schemas.openxmlformats.org/officeDocument/2006/relationships/officeDocument" Target="/ppt/presentation.xml" Id="Rdd776cfc95c6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35f12fddd48ba"/>
  </p:sldMasterIdLst>
  <p:notesMasterIdLst>
    <p:notesMasterId xmlns:r="http://schemas.openxmlformats.org/officeDocument/2006/relationships" r:id="R0f245435e90641b1"/>
  </p:notesMasterIdLst>
  <p:sldIdLst>
    <p:sldId xmlns:r="http://schemas.openxmlformats.org/officeDocument/2006/relationships" id="256" r:id="R354476d3bee643db"/>
    <p:sldId xmlns:r="http://schemas.openxmlformats.org/officeDocument/2006/relationships" id="257" r:id="Rdd3511f65bd5489f"/>
    <p:sldId xmlns:r="http://schemas.openxmlformats.org/officeDocument/2006/relationships" id="258" r:id="R063812f5bfe54f56"/>
    <p:sldId xmlns:r="http://schemas.openxmlformats.org/officeDocument/2006/relationships" id="259" r:id="R1db15ac78cbe4577"/>
    <p:sldId xmlns:r="http://schemas.openxmlformats.org/officeDocument/2006/relationships" id="260" r:id="Rb26ca0f5643143ca"/>
    <p:sldId xmlns:r="http://schemas.openxmlformats.org/officeDocument/2006/relationships" id="261" r:id="Rc9c22473d3ad4c48"/>
    <p:sldId xmlns:r="http://schemas.openxmlformats.org/officeDocument/2006/relationships" id="262" r:id="Rd80428f301694676"/>
    <p:sldId xmlns:r="http://schemas.openxmlformats.org/officeDocument/2006/relationships" id="263" r:id="R6156b7332a0447ca"/>
    <p:sldId xmlns:r="http://schemas.openxmlformats.org/officeDocument/2006/relationships" id="264" r:id="R8eb80ae26d4942e5"/>
    <p:sldId xmlns:r="http://schemas.openxmlformats.org/officeDocument/2006/relationships" id="265" r:id="R85533f61055f44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5c039eb9014353" /><Relationship Type="http://schemas.openxmlformats.org/officeDocument/2006/relationships/slideMaster" Target="/ppt/slideMasters/slideMaster1.xml" Id="R56735f12fddd48ba" /><Relationship Type="http://schemas.openxmlformats.org/officeDocument/2006/relationships/notesMaster" Target="/ppt/notesMasters/notesMaster1.xml" Id="R0f245435e90641b1" /><Relationship Type="http://schemas.openxmlformats.org/officeDocument/2006/relationships/presProps" Target="/ppt/presProps.xml" Id="R0f29bb8bb8f44ce2" /><Relationship Type="http://schemas.openxmlformats.org/officeDocument/2006/relationships/tableStyles" Target="/ppt/tableStyles.xml" Id="Ra5233c3a4c3840ca" /><Relationship Type="http://schemas.openxmlformats.org/officeDocument/2006/relationships/slide" Target="/ppt/slides/slide1.xml" Id="R354476d3bee643db" /><Relationship Type="http://schemas.openxmlformats.org/officeDocument/2006/relationships/slide" Target="/ppt/slides/slide2.xml" Id="Rdd3511f65bd5489f" /><Relationship Type="http://schemas.openxmlformats.org/officeDocument/2006/relationships/slide" Target="/ppt/slides/slide3.xml" Id="R063812f5bfe54f56" /><Relationship Type="http://schemas.openxmlformats.org/officeDocument/2006/relationships/slide" Target="/ppt/slides/slide4.xml" Id="R1db15ac78cbe4577" /><Relationship Type="http://schemas.openxmlformats.org/officeDocument/2006/relationships/slide" Target="/ppt/slides/slide5.xml" Id="Rb26ca0f5643143ca" /><Relationship Type="http://schemas.openxmlformats.org/officeDocument/2006/relationships/slide" Target="/ppt/slides/slide6.xml" Id="Rc9c22473d3ad4c48" /><Relationship Type="http://schemas.openxmlformats.org/officeDocument/2006/relationships/slide" Target="/ppt/slides/slide7.xml" Id="Rd80428f301694676" /><Relationship Type="http://schemas.openxmlformats.org/officeDocument/2006/relationships/slide" Target="/ppt/slides/slide8.xml" Id="R6156b7332a0447ca" /><Relationship Type="http://schemas.openxmlformats.org/officeDocument/2006/relationships/slide" Target="/ppt/slides/slide9.xml" Id="R8eb80ae26d4942e5" /><Relationship Type="http://schemas.openxmlformats.org/officeDocument/2006/relationships/slide" Target="/ppt/slides/slide10.xml" Id="R85533f61055f44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8dd3029b047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7aa1d467f43b2" /><Relationship Type="http://schemas.openxmlformats.org/officeDocument/2006/relationships/notesMaster" Target="/ppt/notesMasters/notesMaster1.xml" Id="Rd640672504f0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38a05369934db0" /><Relationship Type="http://schemas.openxmlformats.org/officeDocument/2006/relationships/notesMaster" Target="/ppt/notesMasters/notesMaster1.xml" Id="R90d7281ee9194d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c8449ecc2f4096" /><Relationship Type="http://schemas.openxmlformats.org/officeDocument/2006/relationships/notesMaster" Target="/ppt/notesMasters/notesMaster1.xml" Id="R37d9013d6031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9324e19f0245ce" /><Relationship Type="http://schemas.openxmlformats.org/officeDocument/2006/relationships/notesMaster" Target="/ppt/notesMasters/notesMaster1.xml" Id="Rf74f88b5bd6441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f0ff92a494c21" /><Relationship Type="http://schemas.openxmlformats.org/officeDocument/2006/relationships/notesMaster" Target="/ppt/notesMasters/notesMaster1.xml" Id="R4d59a96754ca44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53e5e133b64dc7" /><Relationship Type="http://schemas.openxmlformats.org/officeDocument/2006/relationships/notesMaster" Target="/ppt/notesMasters/notesMaster1.xml" Id="R7d80b284ee72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e0c132b2964c37" /><Relationship Type="http://schemas.openxmlformats.org/officeDocument/2006/relationships/notesMaster" Target="/ppt/notesMasters/notesMaster1.xml" Id="R053c54c4fb8546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54541e57404921" /><Relationship Type="http://schemas.openxmlformats.org/officeDocument/2006/relationships/notesMaster" Target="/ppt/notesMasters/notesMaster1.xml" Id="R40804c9ea89544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a11f692ee4658" /><Relationship Type="http://schemas.openxmlformats.org/officeDocument/2006/relationships/notesMaster" Target="/ppt/notesMasters/notesMaster1.xml" Id="R8ab14a2e116a49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6867c96c8f4e7a" /><Relationship Type="http://schemas.openxmlformats.org/officeDocument/2006/relationships/notesMaster" Target="/ppt/notesMasters/notesMaster1.xml" Id="R45158c129fba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開場聚焦「清運不是單一表單，而是跨角色、跨資料、跨現場的協作問題」。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此頁陳述專案要解決的流程問題，不引用外部統計。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核心提案：以案件為中心整合前台與後台。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展示民眾端的核心使用旅程。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強調後台不是靜態查詢，而是可落地執行的調度工具。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架構依 README 與現有設定整理；Maps 能力取決於 GAS 實作與權限。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三個差異化亮點皆源自目前功能範圍，未宣稱尚未驗證的成效。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公共價值以質性敘述呈現，避免捏造量化成效。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此頁將 README 的安全提醒轉為評審可理解的可信任治理路線。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結尾回扣開場：專案價值在於串起完整任務，並具有明確的產品化路線。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E:\Miaoli\data3\README.md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3dfd2dd05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c6aa14e09d475c" /><Relationship Type="http://schemas.openxmlformats.org/officeDocument/2006/relationships/slideLayout" Target="/ppt/slideLayouts/slideLayout1.xml" Id="R2a2d345cc61e45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2d345cc61e45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285bbeddc4e30" /><Relationship Type="http://schemas.openxmlformats.org/officeDocument/2006/relationships/notesSlide" Target="/ppt/notesSlides/notesSlide1.xml" Id="R048a1ff1da91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c575084064590" /><Relationship Type="http://schemas.openxmlformats.org/officeDocument/2006/relationships/notesSlide" Target="/ppt/notesSlides/notesSlide2.xml" Id="R1a3943c30c11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3f400c724b88" /><Relationship Type="http://schemas.openxmlformats.org/officeDocument/2006/relationships/notesSlide" Target="/ppt/notesSlides/notesSlide3.xml" Id="R095c94af5eb8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822583da14a1d" /><Relationship Type="http://schemas.openxmlformats.org/officeDocument/2006/relationships/notesSlide" Target="/ppt/notesSlides/notesSlide4.xml" Id="R3dc37b6d8c404b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de2b0abfd47f3" /><Relationship Type="http://schemas.openxmlformats.org/officeDocument/2006/relationships/notesSlide" Target="/ppt/notesSlides/notesSlide5.xml" Id="R2821e28e792d42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a2f6e29d94c94" /><Relationship Type="http://schemas.openxmlformats.org/officeDocument/2006/relationships/notesSlide" Target="/ppt/notesSlides/notesSlide6.xml" Id="R98aad58b915f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0f6b8daa24594" /><Relationship Type="http://schemas.openxmlformats.org/officeDocument/2006/relationships/notesSlide" Target="/ppt/notesSlides/notesSlide7.xml" Id="R4ffc289bc9ae4a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b953190f1467d" /><Relationship Type="http://schemas.openxmlformats.org/officeDocument/2006/relationships/notesSlide" Target="/ppt/notesSlides/notesSlide8.xml" Id="R2e72a588b0ae41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efa6def9c41ac" /><Relationship Type="http://schemas.openxmlformats.org/officeDocument/2006/relationships/notesSlide" Target="/ppt/notesSlides/notesSlide9.xml" Id="Rdd93e45cf34242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5f94b95a549d2" /><Relationship Type="http://schemas.openxmlformats.org/officeDocument/2006/relationships/notesSlide" Target="/ppt/notesSlides/notesSlide10.xml" Id="R777adef004de42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192CC-6B58-4EBE-A374-1B2DB8DE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智慧城市 × 循環治理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11A3E-C132-4C54-BD28-50FB0AF7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大型廢棄傢俱</a:t>
            </a:r>
          </a:p>
          <a:p xmlns:a="http://schemas.openxmlformats.org/drawingml/2006/main">
            <a:pPr algn="l">
              <a:defRPr sz="45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預約清運管理系統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17B35-7589-4D84-AC22-A723BBA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把預約、派車、路線、照片與進度，整合成一條可追蹤的公共服務流程。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22777-B0F6-488A-8A8B-59431C2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"/>
            <a:ext cx="49530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7305C-D7D3-4D40-BFE5-9591F37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763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一站式清運協作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5AA0B-7707-4A84-A03F-60862E7D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D353C-3B01-4DEB-AA26-E59BD5E0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線上申請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BF78F-B27B-42B1-A939-AA6383E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7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DE7DC"/>
                </a:solidFill>
                <a:latin typeface="Microsoft JhengHei"/>
                <a:ea typeface="Microsoft JhengHei"/>
                <a:cs typeface="Microsoft JhengHei"/>
              </a:rPr>
              <a:t>民眾填單、拍照、列印標籤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7162800" y="2590800"/>
            <a:ext cx="3714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97866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331DE-468F-4622-A5A0-77AFEC7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718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9EC33-471C-4A9E-92FD-B0ED4530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智慧派車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19C81-5EE3-49C8-A822-88839103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7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DE7DC"/>
                </a:solidFill>
                <a:latin typeface="Microsoft JhengHei"/>
                <a:ea typeface="Microsoft JhengHei"/>
                <a:cs typeface="Microsoft JhengHei"/>
              </a:rPr>
              <a:t>車輛、趟次與路線整合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162800" y="3848100"/>
            <a:ext cx="3714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9786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58B38-C0B7-4AA2-8AC8-694F620B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291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6C54D-5337-4A7D-A4D0-65DF767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透明追蹤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02C2F-B4A6-4335-B66E-3BF2070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7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DE7DC"/>
                </a:solidFill>
                <a:latin typeface="Microsoft JhengHei"/>
                <a:ea typeface="Microsoft JhengHei"/>
                <a:cs typeface="Microsoft JhengHei"/>
              </a:rPr>
              <a:t>狀態歷程與拍照結案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7162800" y="5105400"/>
            <a:ext cx="3714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9786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2B264-29DC-4D1B-839A-E62D639C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競賽簡報｜2026</a:t>
            </a:r>
          </a:p>
        </p:txBody>
      </p:sp>
    </p:spTree>
    <p:extLst>
      <p:ext uri="{BB962C8B-B14F-4D97-AF65-F5344CB8AC3E}">
        <p14:creationId xmlns:p14="http://schemas.microsoft.com/office/powerpoint/2010/main" val="1570968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368C5-6060-4444-82A7-9FD38C62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真正的痛點，是資訊在清運流程中斷裂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A3BB0-348A-4477-AEC6-FCD09F65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53517-91B3-4FDC-BC68-1046C0DE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民眾端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4EDEB-07B3-4151-961D-EC3A6F36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管理端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9E7A7-4A71-4294-A504-A31D4C1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26AB5-F731-45BE-A1EC-C9A5818A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不知道該申請什麼、何時搬出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625F7-564F-4DF7-B905-53C1E61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87124-9583-42FB-9CD3-D848A5C2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送出後難以掌握案件進度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446D-EC9F-46BA-AFF1-721E9DE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E2371-D373-4E4D-816B-F901090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照片、地址與單號散落各處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BD571-F7EB-4D30-B3C0-0EA48B70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BF5F9-BD4A-4580-B770-F93615F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預約資料需人工整理與核對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42D4F-B864-4956-9122-0D530B7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1A3A5-F904-4BD9-A6AC-E44D6289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車輛、趟次、路線缺乏整合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447BA-C6CC-44E3-9B01-E5CA543C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583D9-E8EE-416F-8374-F6592FB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完成與否缺少可回溯的證據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8E59E-D154-4D0D-8C5F-9EB98AC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915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07C5B-D0BE-41A1-A7DC-96F20195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4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64E3B"/>
                </a:solidFill>
                <a:latin typeface="Microsoft JhengHei"/>
                <a:ea typeface="Microsoft JhengHei"/>
                <a:cs typeface="Microsoft JhengHei"/>
              </a:rPr>
              <a:t>結果：服務窗口承受重複詢問，清潔隊也難以用同一份資料完成調度與結案。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57161-C1DA-452F-894E-9D928A3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1826562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7B892-2461-4DF6-BE39-A39D4441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一個平台，串起民眾與清潔隊的完整任務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E369-8A55-42E1-907B-92B7DB5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2B504-EBE3-46DD-926A-A7960155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不是只把紙本表單搬上網，</a:t>
            </a:r>
          </a:p>
          <a:p xmlns:a="http://schemas.openxmlformats.org/drawingml/2006/main">
            <a:pPr algn="l">
              <a:defRPr sz="27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而是把每個清運節點都變成可追蹤資料。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D0D37-3785-47CB-AFED-E75327CD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從申請、照片、單號，到排班、路線、狀態與結案，所有角色共享同一條案件脈絡。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E1158-7050-4FFE-98D6-AA891D03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D87AF-CF4A-441D-9053-38C51F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更便利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83BED-C9B9-4C53-A878-1806F40C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383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民眾線上完成申請、查詢與標籤列印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DF37D-1D8F-4E7F-B3B3-0472F862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95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38B20-27B2-4CE9-AF9A-0ADB643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更有效率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8064E-8E38-4197-813D-92A41E7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718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管理端直接排車、分趟與匯出派車清單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55910-EC3D-4DE7-87F9-F897D02C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95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29FD6-6263-4AA7-9BB1-CDAD7C55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更可治理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9AFFF-4F3C-4B1A-B2D5-D1414FD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053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保留狀態歷程、照片證據與路線資訊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7F97A-019D-408B-92D7-11EBD608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1501415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7B6B8B-D1A3-44B0-81B3-E5327CB0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民眾只需四步，即可完成清運申請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B0887-E9A1-4685-BE5E-8725D0C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1000125" y="314325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5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658F6-1D3A-4B97-9C10-324268B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43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8CA45-C6D1-49DE-A9AE-ADB06B9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09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B66A6-20DA-47B1-877F-4E3E4E9A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填寫資料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CF17F-E93C-4BE8-B709-38312F0B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聯絡方式、地址、日期與時段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374E2-9272-4824-9B28-3B800E87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43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679A0-507A-4D4C-B7B0-3AC25161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09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7BA5A-0F87-4839-98AC-29F28BB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05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選擇物品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C4170-3325-4502-B97C-87013815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385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品項、數量與現場照片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A21F4-7FE9-49DF-9C6D-4AC41F89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43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99FDA-6709-4DAE-904D-28EEAF3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9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98EDF-F8BA-4F91-ACCE-985B341E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05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取得單號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2D16E-030A-4053-B03C-F2146E3A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385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同意規範並列印 QR 標籤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7F078-821A-4B07-8703-84D349C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43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EAF74-7C90-468B-A00C-9A8D70C0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1658A-5B37-447D-9949-7D566490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05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查詢進度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251BB-8328-47AE-9BE7-4BAAE2BF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385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追蹤狀態或取消未完成案件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12400-135E-402C-A82E-999647D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3D1BE-50EE-4FE9-A27A-C5BEB553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QR Code 讓紙本標籤與線上案件連結，現場辨識更直覺。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42735-DADD-44FF-9F7D-323D84A3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2147065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BA086-2C96-4EC9-A6D4-3EE943D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後台把案件清單，轉化為可執行的車輛任務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3D3DB-86E5-4DBF-BEBC-0004481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3574E-ABC8-4ACC-A0D3-0FCEF79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D80AB-D0D2-470C-82CE-6A88A5BE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F8E30-B4F3-4DD2-9B72-3207F49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62F37-90CA-4EC1-9261-1441677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案件審核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FFAFA-E6D5-48CC-A4A1-E7EE3F8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4619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集中查看申請資料、照片與待處理數量。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43244-8362-45F7-9F4A-8A0D5768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9C6E2-9FD7-4F54-8634-A23813D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FD462-5CC2-45BE-A717-BDBEF21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668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4850E-BFFE-4C9D-AADF-0BF865AC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車輛排班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4A2F5-AAA8-4761-83BF-89010C85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4619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選擇車號、日期、上午／下午及趟次。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FEC41-BF95-414E-8988-09F4BF0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44810-5BAA-4D1B-B498-09662E6C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7C1DC-833C-4DB2-8C3B-AED6972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52EAB-452E-47C4-948A-E54FFC6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路線管理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2FDEB-2FF6-42CF-A4F4-5073925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4619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依同車、同日、同時段分組，調整停靠順序。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AAFF7-632F-44A7-9784-162D86EE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143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7CE76-6231-41A5-BBCA-1DA8FF82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E8AC7-DA95-4410-9343-C05E21C1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92B3A-4E33-4D5E-98F2-022DAAEF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291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拍照結案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8EEF5-C042-4E0F-9643-0BE0868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619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更新狀態、保存歷程，上傳完成照片並匯出清單。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A3112-CA7B-452C-B417-7BAEA01D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626561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139F7-3F9A-463D-BE7F-9BF565B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輕量技術架構，兼顧快速部署與雲端協作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CCDFD-B27F-4A4C-9616-1FDBFF15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29527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6381750" y="3333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E9264-A973-4D5D-82F5-E1DCA76B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956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63301-C08A-4D0F-84D3-77D23A89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956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3D48B-C0AA-489B-A720-E269D8DC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2476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9525">
            <a:solidFill>
              <a:srgbClr val="BFD2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B0CF1-00F8-4284-AB9B-E50C8A1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使用者端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1D44-B3E6-4D24-BA09-3AD124D1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民眾預約</a:t>
            </a:r>
          </a:p>
          <a:p xmlns:a="http://schemas.openxmlformats.org/drawingml/2006/main">
            <a:pPr algn="ctr">
              <a:defRPr sz="16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案件查詢</a:t>
            </a:r>
          </a:p>
          <a:p xmlns:a="http://schemas.openxmlformats.org/drawingml/2006/main">
            <a:pPr algn="ctr">
              <a:defRPr sz="16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清潔隊後台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D819E-84AE-4EF1-8CB1-4A621DA2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2286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9525">
            <a:solidFill>
              <a:srgbClr val="087F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E618C-BB5F-4C20-9432-E284EC37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4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64E3B"/>
                </a:solidFill>
                <a:latin typeface="Microsoft JhengHei"/>
                <a:ea typeface="Microsoft JhengHei"/>
                <a:cs typeface="Microsoft JhengHei"/>
              </a:rPr>
              <a:t>前端網站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F142E-F9A5-4C70-A16E-8FE2F226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71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React 18</a:t>
            </a:r>
          </a:p>
          <a:p xmlns:a="http://schemas.openxmlformats.org/drawingml/2006/main">
            <a:pPr algn="ctr">
              <a:def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Vite 多頁建置</a:t>
            </a:r>
          </a:p>
          <a:p xmlns:a="http://schemas.openxmlformats.org/drawingml/2006/main">
            <a:pPr algn="ctr">
              <a:def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GitHub Pages</a:t>
            </a:r>
          </a:p>
          <a:p xmlns:a="http://schemas.openxmlformats.org/drawingml/2006/main">
            <a:pPr algn="ctr">
              <a:def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localStorage 快取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4059B-C670-4138-8BD2-B0ACA2A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90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6654E-931D-4F49-BE31-8007EEFA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Google Apps 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3A636-906B-437C-A107-36514DF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5EFE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D5EFE4"/>
                </a:solidFill>
                <a:latin typeface="Microsoft JhengHei"/>
                <a:ea typeface="Microsoft JhengHei"/>
                <a:cs typeface="Microsoft JhengHei"/>
              </a:rPr>
              <a:t>Google Sheets｜案件與車輛</a:t>
            </a:r>
          </a:p>
          <a:p xmlns:a="http://schemas.openxmlformats.org/drawingml/2006/main">
            <a:pPr algn="ctr">
              <a:defRPr sz="1425" b="0">
                <a:solidFill>
                  <a:srgbClr val="D5EFE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D5EFE4"/>
                </a:solidFill>
                <a:latin typeface="Microsoft JhengHei"/>
                <a:ea typeface="Microsoft JhengHei"/>
                <a:cs typeface="Microsoft JhengHei"/>
              </a:rPr>
              <a:t>Google Drive｜申請與結案照片</a:t>
            </a:r>
          </a:p>
          <a:p xmlns:a="http://schemas.openxmlformats.org/drawingml/2006/main">
            <a:pPr algn="ctr">
              <a:defRPr sz="1425" b="0">
                <a:solidFill>
                  <a:srgbClr val="D5EFE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D5EFE4"/>
                </a:solidFill>
                <a:latin typeface="Microsoft JhengHei"/>
                <a:ea typeface="Microsoft JhengHei"/>
                <a:cs typeface="Microsoft JhengHei"/>
              </a:rPr>
              <a:t>Maps 服務｜路線距離與時間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C85C7-F8F8-40C4-8BFD-9543C504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716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2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1D49D-782A-406C-BE65-7575640B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38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前端可快速上線；正式資料由 GAS 串接 Google 雲端服務。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66A20-0FF6-446A-81F6-497E3D54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790821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67959-F968-47A3-A25F-DBE505EB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創新不在單一功能，而在流程被真正串起來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E686D-C139-47CF-825C-AF3DA49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0B3BE-483C-4068-8951-3A562855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19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82D2D-8E88-4652-AC7F-BA2862A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識別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9BFA3-A6BB-4619-9466-08E1000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單號＋QR 標籤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781050" y="3476625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273BF-2C3E-4951-81F7-1878ABDA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把線上案件帶到實體清運現場，降低辨識落差。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A8EC7-33A6-4A4A-8A29-DB6C61DD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219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3FDDA-A56B-4609-9CC0-540EFFC3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調度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76152-4CF9-43E7-8116-EA4C255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車輛＋趟次＋路線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14850" y="3476625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27DDD-D7FE-4272-9A30-1FC10FB1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不只核准案件，更直接形成每日可執行的工作安排。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620A3-7FF9-41FA-B22D-B035915B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219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84F19-E113-45EC-8E59-F8FC8325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治理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2B404-9964-474D-BEBE-C723457C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歷程＋照片＋碳排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8248650" y="3476625"/>
            <a:ext cx="266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2A643-08A2-4BA9-B903-323A64EB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讓完成狀態可回溯，也為後續永續管理保留資料基礎。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0E4CD-BD57-4211-982F-A388FBB9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1048339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4E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810F2-9CA2-4BFD-BF02-AD366ACD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0D1D9-6840-4AAC-9153-ABBD131F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同一份資料，創造三種公共價值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7776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562AF-B5C9-4E29-8765-2DBC99B1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民眾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3109C-8574-418E-8691-A3DDED7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24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服務透明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C2FC2-F22F-4AD4-899E-FE72811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525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CE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D7ECE3"/>
                </a:solidFill>
                <a:latin typeface="Microsoft JhengHei"/>
                <a:ea typeface="Microsoft JhengHei"/>
                <a:cs typeface="Microsoft JhengHei"/>
              </a:rPr>
              <a:t>少一次電話確認，多一個隨時可查的案件進度。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14350" y="2447925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97866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2FAC4-503F-4E3D-9AF2-747E7D90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清潔隊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D7687-FA15-4C24-8630-E87BBD9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作業協同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5C90E-4CBF-456A-A7A7-1853FD7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60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CE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D7ECE3"/>
                </a:solidFill>
                <a:latin typeface="Microsoft JhengHei"/>
                <a:ea typeface="Microsoft JhengHei"/>
                <a:cs typeface="Microsoft JhengHei"/>
              </a:rPr>
              <a:t>從審核到結案沿用同一筆案件，減少重複整理。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14350" y="3781425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97866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AEFF6-CD56-4E82-B546-BCBF81CD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4C95D"/>
                </a:solidFill>
                <a:latin typeface="Microsoft JhengHei"/>
                <a:ea typeface="Microsoft JhengHei"/>
                <a:cs typeface="Microsoft JhengHei"/>
              </a:rPr>
              <a:t>管理者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4880D-754B-41BA-9DA1-3F5F97FB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91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治理基礎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14DC2-15CB-4C39-A3DB-D7AC8225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CE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D7ECE3"/>
                </a:solidFill>
                <a:latin typeface="Microsoft JhengHei"/>
                <a:ea typeface="Microsoft JhengHei"/>
                <a:cs typeface="Microsoft JhengHei"/>
              </a:rPr>
              <a:t>累積品項、區域、路線與狀態資料，支援後續分析。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5114925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97866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1ED01-D53E-4F70-A111-E4E983A4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核心價值：讓公共服務可被看見、可被執行、也可被改善。</a:t>
            </a:r>
          </a:p>
        </p:txBody>
      </p:sp>
    </p:spTree>
    <p:extLst>
      <p:ext uri="{BB962C8B-B14F-4D97-AF65-F5344CB8AC3E}">
        <p14:creationId xmlns:p14="http://schemas.microsoft.com/office/powerpoint/2010/main" val="1948582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3C978-7762-42C9-928C-5C580EC0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我們也正視：公共系統必須從原型走向可信任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A4315-082C-4492-8D79-5E23B4B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95300" y="1085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FD2C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34AF3-041F-4C4D-9120-8B90170D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目前已具備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026B4-292F-4C5B-93B1-ACB61B64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正式上線前要強化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89BDC-C070-4015-BDC9-6F9CCDC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02880-8C8E-4495-8E4F-F19C04D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敏感 GAS 檔案排除於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D0B23-67CA-438A-BD5B-A484725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63755-0C67-4FEF-824F-F6368BA6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登入狀態設定 30 分鐘期限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8EE1B-BCCA-493D-B8C0-4FA2BA5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DD889-6786-4FF3-A57D-0FACA14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案件狀態與照片可回溯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8D392-FD8E-458F-8EF0-E5210B5D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6A34F-5E40-48F1-9A55-E02EB51A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24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管理 API 改為伺服器端授權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9FF6D-2BEB-4694-9966-8C62A5A9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2704D-D54C-487B-B115-0916C457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86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單號改由後端鎖定並統一配發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E0733-D7B1-4860-8F85-18DE0867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EB5DF-48CE-4FC7-B7DB-9238243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480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個資、照片權限與保留政策制度化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65453-0C1B-4F93-8D9A-9D912F7F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6BDBC-BDF8-42C7-ADCF-7A37E36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競賽成果不是終點：我們已辨識密碼傳輸、no-cors 回應確認、Drive 分享與雙版本程式同步等風險。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2F024-87B7-496F-947B-758A9DA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2022439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2B1D2-DE65-403C-A2EF-F3400C7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未來藍圖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9B8E7-37F5-440A-920B-3A96805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從可用原型，前進到可規模化的地方治理服務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129B1-FD5A-45B3-9B87-84FAA925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8EBB8-0CAD-4689-A1F3-0530D62D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52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現在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E7EFF-D1F4-41A4-ACFA-8CAE0174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10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完成端到端原型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C8275-BF47-4490-AC52-15AA310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62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預約、查詢、排車、路線、結案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F1CF5-E8EA-4759-8713-51C7857B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9DA63-F9FE-4053-9483-2898BA71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52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FD654-4033-49E5-84D0-A9F5292B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10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統一程式與安全層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9C378-6A28-4FDB-BA06-A87C29AF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元件化、後端配號、API 授權、測試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204B5-3AB8-4753-A984-DA322CE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333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AD57C-0F7D-4996-9FFA-C5FC3CD8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52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F5B"/>
                </a:solidFill>
                <a:latin typeface="Microsoft JhengHei"/>
                <a:ea typeface="Microsoft JhengHei"/>
                <a:cs typeface="Microsoft JhengHei"/>
              </a:rPr>
              <a:t>未來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0B047-40C1-46B4-9929-27097171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3B32"/>
                </a:solidFill>
                <a:latin typeface="Microsoft JhengHei"/>
                <a:ea typeface="Microsoft JhengHei"/>
                <a:cs typeface="Microsoft JhengHei"/>
              </a:rPr>
              <a:t>以資料持續優化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3F60D-EBEB-4031-A260-02ABDDDC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62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區域需求分析、車隊效率與永續指標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DEC14-1E15-4733-84DC-93AB20F7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64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64E3B"/>
                </a:solidFill>
                <a:latin typeface="Microsoft JhengHei"/>
                <a:ea typeface="Microsoft JhengHei"/>
                <a:cs typeface="Microsoft JhengHei"/>
              </a:rPr>
              <a:t>讓每一次大型廢棄物清運，都成為更便利、更透明、更永續的城市服務。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033D5-65DC-435C-8DB2-5FC0FB0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817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07A72"/>
                </a:solidFill>
                <a:latin typeface="Microsoft JhengHei"/>
                <a:ea typeface="Microsoft JhengHei"/>
                <a:cs typeface="Microsoft JhengHei"/>
              </a:rPr>
              <a:t>大型廢棄傢俱預約清運管理系統</a:t>
            </a:r>
          </a:p>
        </p:txBody>
      </p:sp>
    </p:spTree>
    <p:extLst>
      <p:ext uri="{BB962C8B-B14F-4D97-AF65-F5344CB8AC3E}">
        <p14:creationId xmlns:p14="http://schemas.microsoft.com/office/powerpoint/2010/main" val="667326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2026-08-16T15:10:26.6170000Z</dcterms:created>
  <dcterms:modified xsi:type="dcterms:W3CDTF">2026-08-16T15:10:26.6180000Z</dcterms:modified>
</coreProperties>
</file>